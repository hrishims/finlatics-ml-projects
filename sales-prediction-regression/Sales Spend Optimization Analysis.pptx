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Inter SemiBold"/>
      <p:regular r:id="rId18"/>
      <p:bold r:id="rId19"/>
      <p:italic r:id="rId20"/>
      <p:boldItalic r:id="rId21"/>
    </p:embeddedFont>
    <p:embeddedFont>
      <p:font typeface="Poppins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Poppins SemiBold"/>
      <p:regular r:id="rId30"/>
      <p:bold r:id="rId31"/>
      <p:italic r:id="rId32"/>
      <p:boldItalic r:id="rId33"/>
    </p:embeddedFont>
    <p:embeddedFont>
      <p:font typeface="Inter Medium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8E3AAC4-BCD4-4423-9972-906C0671FBFF}">
  <a:tblStyle styleId="{28E3AAC4-BCD4-4423-9972-906C0671FBF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italic.fntdata"/><Relationship Id="rId22" Type="http://schemas.openxmlformats.org/officeDocument/2006/relationships/font" Target="fonts/Poppins-regular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bold.fntdata"/><Relationship Id="rId30" Type="http://schemas.openxmlformats.org/officeDocument/2006/relationships/font" Target="fonts/Poppins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boldItalic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italic.fntdata"/><Relationship Id="rId13" Type="http://schemas.openxmlformats.org/officeDocument/2006/relationships/slide" Target="slides/slide7.xml"/><Relationship Id="rId35" Type="http://schemas.openxmlformats.org/officeDocument/2006/relationships/font" Target="fonts/InterMedium-bold.fntdata"/><Relationship Id="rId12" Type="http://schemas.openxmlformats.org/officeDocument/2006/relationships/slide" Target="slides/slide6.xml"/><Relationship Id="rId34" Type="http://schemas.openxmlformats.org/officeDocument/2006/relationships/font" Target="fonts/InterMedium-regular.fntdata"/><Relationship Id="rId15" Type="http://schemas.openxmlformats.org/officeDocument/2006/relationships/slide" Target="slides/slide9.xml"/><Relationship Id="rId37" Type="http://schemas.openxmlformats.org/officeDocument/2006/relationships/font" Target="fonts/InterMedium-boldItalic.fntdata"/><Relationship Id="rId14" Type="http://schemas.openxmlformats.org/officeDocument/2006/relationships/slide" Target="slides/slide8.xml"/><Relationship Id="rId36" Type="http://schemas.openxmlformats.org/officeDocument/2006/relationships/font" Target="fonts/InterMedium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9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009650" y="1628775"/>
            <a:ext cx="8251031" cy="1226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Advertising Spend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2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Sales Optimization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771525" y="1628775"/>
            <a:ext cx="76200" cy="1226641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71525" y="3045916"/>
            <a:ext cx="80962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data-driven analysis of marketing channel efficiency and predictive modeling using linear regression.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71525" y="4253507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MARKETING ANALYTICS REPORT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5619750" y="2679352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395537" y="2955577"/>
            <a:ext cx="74009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Exploratory Insights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2571750" y="3984277"/>
            <a:ext cx="70485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Understanding media channel spend benchmarks and baseline correlations.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632025"/>
            <a:ext cx="10648950" cy="250834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6334125" y="2632025"/>
            <a:ext cx="534066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TV Dominates the Budget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334125" y="3117800"/>
            <a:ext cx="50863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dataset shows a massive skew toward television advertising investments, averaging </a:t>
            </a:r>
            <a:r>
              <a:rPr b="1" i="0" lang="en-US" sz="1425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$147.04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across all tracking cycles.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334125" y="4129087"/>
            <a:ext cx="50863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Radio and newspaper strategies operate at significantly lower capital bounds, indicating they are historically treated as secondary support channels.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62025" y="581025"/>
            <a:ext cx="576072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MEDIA MIX VOLUME BREAKDOWN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771525" y="581025"/>
            <a:ext cx="47625" cy="4857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520255"/>
            <a:ext cx="3390900" cy="2731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00550" y="2520255"/>
            <a:ext cx="3390900" cy="2731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29575" y="2520255"/>
            <a:ext cx="3390900" cy="27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1057275" y="3406080"/>
            <a:ext cx="296037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TV Channel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1057275" y="3891855"/>
            <a:ext cx="28194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0.782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1057275" y="4366170"/>
            <a:ext cx="2819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Exceptional, dominant linear relationship with sales trajectory.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4686300" y="3406080"/>
            <a:ext cx="296037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Radio Channel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4686300" y="3891855"/>
            <a:ext cx="28194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0.350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4686300" y="4366170"/>
            <a:ext cx="2819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Moderate positive correlation. Useful multiplier effect when paired correctly.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315325" y="3406080"/>
            <a:ext cx="296037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Newspaper Channel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315325" y="3891855"/>
            <a:ext cx="28194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0.228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315325" y="4366170"/>
            <a:ext cx="2819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Weak correlation index. Historically exhibits the lowest return footprint.</a:t>
            </a:r>
            <a:endParaRPr/>
          </a:p>
        </p:txBody>
      </p:sp>
      <p:pic>
        <p:nvPicPr>
          <p:cNvPr descr="image.png" id="125" name="Google Shape;12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882205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86300" y="288220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15325" y="2882205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962025" y="581025"/>
            <a:ext cx="6290786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ATTRIBUTION &amp; CHANNEL STRENGTH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771525" y="581025"/>
            <a:ext cx="47625" cy="4857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179266"/>
            <a:ext cx="5086350" cy="190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771525" y="2362200"/>
            <a:ext cx="50863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 OLS multiple linear regression pipeline was fitted combining all three marketing mediums simultaneously.</a:t>
            </a:r>
            <a:endParaRPr/>
          </a:p>
        </p:txBody>
      </p:sp>
      <p:pic>
        <p:nvPicPr>
          <p:cNvPr descr="image.png" id="137" name="Google Shape;13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24625" y="2552700"/>
            <a:ext cx="470535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6524625" y="5353050"/>
            <a:ext cx="47053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Red nodes indicate actual recorded sales matched against the model boundary.</a:t>
            </a:r>
            <a:endParaRPr/>
          </a:p>
        </p:txBody>
      </p:sp>
      <p:graphicFrame>
        <p:nvGraphicFramePr>
          <p:cNvPr id="139" name="Google Shape;139;p17"/>
          <p:cNvGraphicFramePr/>
          <p:nvPr/>
        </p:nvGraphicFramePr>
        <p:xfrm>
          <a:off x="771525" y="31792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{28E3AAC4-BCD4-4423-9972-906C0671FBFF}</a:tableStyleId>
              </a:tblPr>
              <a:tblGrid>
                <a:gridCol w="2895600"/>
                <a:gridCol w="1885950"/>
              </a:tblGrid>
              <a:tr h="63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Evaluation 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Value / Capability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63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 R² (Explanatory Power)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EA5E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0.897 (89.7%)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Residual Variance (MSE)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~2.78 units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0" name="Google Shape;140;p17"/>
          <p:cNvSpPr/>
          <p:nvPr/>
        </p:nvSpPr>
        <p:spPr>
          <a:xfrm>
            <a:off x="790575" y="4444007"/>
            <a:ext cx="28956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3705225" y="4444007"/>
            <a:ext cx="1885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962025" y="581025"/>
            <a:ext cx="567570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PREDICTIVE BASELINE MODEL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771525" y="581025"/>
            <a:ext cx="47625" cy="4857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771525" y="3128962"/>
            <a:ext cx="5086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19.43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771525" y="4367212"/>
            <a:ext cx="5086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Units Expected Sales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334125" y="2237779"/>
            <a:ext cx="534066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Testing a Custom Allocations Mix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334125" y="2723554"/>
            <a:ext cx="50863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Using the multi-variable model equation, we simulated a speculative campaign budget parameters allocation: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334125" y="4523333"/>
            <a:ext cx="50863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prediction engine yields an optimization baseline of </a:t>
            </a:r>
            <a:r>
              <a:rPr b="1" i="0" lang="en-US" sz="1425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19.43 product sale units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confirming immediate scalar growth when budgets scale upwards systematically.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419850" y="3466326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524625" y="3464421"/>
            <a:ext cx="48958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$200.00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committed to Television media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419850" y="3755796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524625" y="3753891"/>
            <a:ext cx="48958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$40.00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committed to Radio infrastructure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419850" y="4045267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524625" y="4043362"/>
            <a:ext cx="48958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$50.00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split across target Regional Newspapers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962025" y="581025"/>
            <a:ext cx="574571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SCENARIO MATRIX FORECASTING</a:t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771525" y="581025"/>
            <a:ext cx="47625" cy="4857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962025" y="1288107"/>
            <a:ext cx="4790598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WHAT HAPPENS IF WE DROP TV?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771525" y="1288107"/>
            <a:ext cx="47625" cy="9715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771525" y="2450157"/>
            <a:ext cx="499062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Core Attribution Threat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771525" y="2935932"/>
            <a:ext cx="4752975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If we intentionally execute strategy relying exclusively on </a:t>
            </a:r>
            <a:r>
              <a:rPr b="1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Radio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Newspaper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metrics while abandoning TV, model efficiency collapses.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771525" y="3947219"/>
            <a:ext cx="475297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structural R² plunges down from </a:t>
            </a:r>
            <a:r>
              <a:rPr b="1" i="0" lang="en-US" sz="1425" u="none" cap="none" strike="noStrike">
                <a:solidFill>
                  <a:srgbClr val="F43F5E"/>
                </a:solidFill>
                <a:latin typeface="Inter"/>
                <a:ea typeface="Inter"/>
                <a:cs typeface="Inter"/>
                <a:sym typeface="Inter"/>
              </a:rPr>
              <a:t>89.7% to just ~33%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771525" y="4669035"/>
            <a:ext cx="4752975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This drop confirms that alternative media arrays act primarily as secondary amplifiers; they cannot carry structural baseline demand generation alone.</a:t>
            </a:r>
            <a:endParaRPr/>
          </a:p>
        </p:txBody>
      </p:sp>
      <p:pic>
        <p:nvPicPr>
          <p:cNvPr descr="image.png"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934741"/>
            <a:ext cx="5086350" cy="190291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771525" y="2632025"/>
            <a:ext cx="534066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Preserved Optimization Performance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771525" y="3117800"/>
            <a:ext cx="50863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Transforming metrics with feature scaling filters (e.g., MinMax or StandardScaler) yields </a:t>
            </a:r>
            <a:r>
              <a:rPr b="1" i="0" lang="en-US" sz="1425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zero systemic variance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on ultimate variance explanatory power or R² metrics.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771525" y="4129087"/>
            <a:ext cx="50863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true utility resides in coefficient readability; normalizing unifies all relative media scales from raw dollars into comparative feature unit impacts.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6581775" y="3182391"/>
            <a:ext cx="482060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TECHNICAL PIPELINE LOG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6581775" y="3468141"/>
            <a:ext cx="45910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&gt;&gt; Raw Model R2: 0.89721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581775" y="3729037"/>
            <a:ext cx="45910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&gt;&gt; Normalized Model R2: 0.89721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581775" y="4132808"/>
            <a:ext cx="45910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Mathematical geometry behind linear projections remains invariant under uniform coordinate mapping scaling.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962025" y="581025"/>
            <a:ext cx="5135641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NORMALIZATION MECHANICS</a:t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771525" y="581025"/>
            <a:ext cx="47625" cy="4857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901404"/>
            <a:ext cx="3390900" cy="1969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00550" y="2901404"/>
            <a:ext cx="3390900" cy="1969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29575" y="2901404"/>
            <a:ext cx="3390900" cy="196959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1057275" y="3225254"/>
            <a:ext cx="296037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4D39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Protect the Anchor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1057275" y="3711029"/>
            <a:ext cx="28194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Maintain TV advertising as the absolute anchor of customer volume generation frameworks.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4686300" y="3225254"/>
            <a:ext cx="296037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B718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Restructure Print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4686300" y="3711029"/>
            <a:ext cx="28194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Deprioritize Newspaper spend allocations. Shift excess print budgets into digital or radio conversion loops.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8315325" y="3225254"/>
            <a:ext cx="296037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Continuous Track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8315325" y="3711029"/>
            <a:ext cx="28194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Deploy live multi-variable scenarios tracking to scale predictive confidence indices across operational quarters.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962025" y="581025"/>
            <a:ext cx="695586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STRATEGIC ALLOCATION ARCHITECTURE</a:t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771525" y="581025"/>
            <a:ext cx="47625" cy="4857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2287" y="4436715"/>
            <a:ext cx="428625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2910601" y="1992659"/>
            <a:ext cx="6370796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3062287" y="3469034"/>
            <a:ext cx="60674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 Analysis &amp; Predictive Spend Insights Complete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64792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 txBox="1"/>
          <p:nvPr/>
        </p:nvSpPr>
        <p:spPr>
          <a:xfrm>
            <a:off x="1866900" y="3641377"/>
            <a:ext cx="9553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https://honeykidsasia.com/thailand/wp-content/uploads/sites/2/2025/12/Untitled-design-3.jpg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1866900" y="3887092"/>
            <a:ext cx="9553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honeykidsasia.com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962025" y="581025"/>
            <a:ext cx="2855356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771525" y="581025"/>
            <a:ext cx="47625" cy="4857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