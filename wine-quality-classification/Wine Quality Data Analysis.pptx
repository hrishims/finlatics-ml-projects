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20B0502040204020203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F6197A-392C-4A99-B3F8-B10F9C7EB98C}">
  <a:tblStyle styleId="{5AF6197A-392C-4A99-B3F8-B10F9C7EB9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8382000" y="-1905000"/>
            <a:ext cx="5715000" cy="5715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29880"/>
            <a:ext cx="11049000" cy="4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INSIGHTS &amp; PREDICTIONS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3234630"/>
            <a:ext cx="11049000" cy="19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138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Exploratory Data Analysis and Machine Learning Results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5275" y="174873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Wine Quality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28466"/>
            <a:ext cx="5334000" cy="240119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3195191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Analysis performed on a comprehensive wine dataset comprising physicochemical measurements.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581775" y="3452366"/>
            <a:ext cx="4743450" cy="52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Fixed Acidity, Volatile Acidity, Citric Acid, Residual Sugar, Chlorides, Free/Total SO2, Density, pH, Sulphates, Alcohol.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581775" y="4129533"/>
            <a:ext cx="474345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581775" y="4339083"/>
            <a:ext cx="4743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Target: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Quality (Score 3-8)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995291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1599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Total Observations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300091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Key Variables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604891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Input Features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720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620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6680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2728466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Composition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81775" y="3023741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Attribute List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460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14600"/>
            <a:ext cx="3492549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14600"/>
            <a:ext cx="3492549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66775" y="3924300"/>
            <a:ext cx="2901999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Verified that no missing values exist across all variables using isnull().sum().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5074" y="3924300"/>
            <a:ext cx="2901999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Applied dropna() to ensure absolute dataset clean-up before exploratory analysis.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924300"/>
            <a:ext cx="2901999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Confirmed data types using df.info(), ensuring numeric formats for all chemical attributes.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47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479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47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PRE-PROCESSING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66775" y="34575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Null Check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45074" y="34575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Integrity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23374" y="345757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028182"/>
            <a:ext cx="2524125" cy="1068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96375" y="4028182"/>
            <a:ext cx="2524125" cy="106858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3124200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4457700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MOST FREQUENT GRADE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286500" y="322808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Sensory analysis scores range from a minimum of 3 to a maximum of 8.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438900" y="4180582"/>
            <a:ext cx="233029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Highest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438900" y="4409182"/>
            <a:ext cx="2219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248775" y="4180582"/>
            <a:ext cx="233029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Lowest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248775" y="4409182"/>
            <a:ext cx="2219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Q1: QUALITY DISTRIBUTION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6286500" y="2761357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Quality Range Summary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69394"/>
            <a:ext cx="11049000" cy="86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2473969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Correlation of acidity and sulfur dioxide with wine quality: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5178325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Fixed acidity shows a minor positive correlation, while free sulfur dioxide is slightly negative.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159894"/>
            <a:ext cx="10668000" cy="4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Q2: STATISTICAL CORRELATIONS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18621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Trend analysis shows that higher average alcohol levels correlate with superior quality ratings: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6911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Insight: Alcohol content is one of the most powerful predictors of premium wine classification.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7937"/>
            <a:ext cx="11049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Q2: ALCOHOL VS. QUALITY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47148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Finding: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Residual sugar remains relatively constant (~2.6 g/L) regardless of the wine quality score, indicating it is not a primary driver of grade.</a:t>
            </a:r>
            <a:endParaRPr/>
          </a:p>
        </p:txBody>
      </p:sp>
      <p:graphicFrame>
        <p:nvGraphicFramePr>
          <p:cNvPr id="174" name="Google Shape;174;p19"/>
          <p:cNvGraphicFramePr/>
          <p:nvPr/>
        </p:nvGraphicFramePr>
        <p:xfrm>
          <a:off x="571500" y="25336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{5AF6197A-392C-4A99-B3F8-B10F9C7EB98C}</a:tableStyleId>
              </a:tblPr>
              <a:tblGrid>
                <a:gridCol w="285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Quality Rating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Residual Sugar (g/L)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Trend Analysis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 (Lowest)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2.6350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Higher than 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(Median)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2.5289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Stable 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(Highest)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2.5778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Slightly elevated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" name="Google Shape;175;p19"/>
          <p:cNvSpPr/>
          <p:nvPr/>
        </p:nvSpPr>
        <p:spPr>
          <a:xfrm>
            <a:off x="571500" y="3462337"/>
            <a:ext cx="28548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426321" y="3462337"/>
            <a:ext cx="4336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763023" y="3462337"/>
            <a:ext cx="385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3938587"/>
            <a:ext cx="28548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426321" y="3938587"/>
            <a:ext cx="4336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763023" y="3938587"/>
            <a:ext cx="385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71500" y="4414837"/>
            <a:ext cx="28548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426321" y="4414837"/>
            <a:ext cx="43367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7763023" y="4414837"/>
            <a:ext cx="38574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Q3: RESIDUAL SUGAR ANALYSIS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90912"/>
            <a:ext cx="49530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25003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Volatile acidity exhibits a strong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negative impact (-0.39)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on overall quality perception.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56435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Reducing volatile acidity is critical for moving from low-tier (3) to high-tier (8) quality classifications.</a:t>
            </a:r>
            <a:endParaRPr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904875" y="3976687"/>
            <a:ext cx="4324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Mean for Quality 3: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0.88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904875" y="4471987"/>
            <a:ext cx="4324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Mean for Quality 8: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0.42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62000" y="414337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Q4: VOLATILE ACIDITY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414337"/>
            <a:ext cx="76200" cy="12382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2033587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Negative Correlation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71500" y="249078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dataset was split into Training (80%) and Testing (20%) sets to evaluate classification accuracy.</a:t>
            </a:r>
            <a:endParaRPr/>
          </a:p>
        </p:txBody>
      </p:sp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329088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Tree Classifier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3595687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Forest Ensemble</a:t>
            </a:r>
            <a:endParaRPr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28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57600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Q5: PREDICTIVE MODELING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2024062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Machine Learning Strategy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62425"/>
            <a:ext cx="538162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4162425"/>
            <a:ext cx="538162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71500" y="20002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 comparison of predictive accuracy on the unseen test dataset: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66775" y="4648200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 outperformed the baseline Decision Tree by 10%, highlighting the benefit of ensemble learning.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534150" y="4648200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accuracy reached 98.8% for Random Forest, indicating high model capacity with appropriate depth limits.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Q5: MODEL PERFORMANCE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71500" y="20383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Analysis of max_depth hyperparameter impacts on accuracy metrics: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71500" y="6038850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Random Forest generalizes better at higher depths where single trees begin to overfit.</a:t>
            </a:r>
            <a:endParaRPr/>
          </a:p>
        </p:txBody>
      </p:sp>
      <p:pic>
        <p:nvPicPr>
          <p:cNvPr id="234" name="Google Shape;2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OPTIMIZATION: DEPTH VS. ACCURACY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571500" y="1571625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Complexity Curve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86300"/>
            <a:ext cx="11049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/>
          <p:nvPr/>
        </p:nvSpPr>
        <p:spPr>
          <a:xfrm>
            <a:off x="-952500" y="495300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3605212" y="2438400"/>
            <a:ext cx="4981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Alcohol and Volatile Acidity are primary quality predictors.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3605212" y="2933700"/>
            <a:ext cx="4981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Residual Sugar has negligible impact on final grades.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3605212" y="3429000"/>
            <a:ext cx="4981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Ensemble methods provide ~66% predictive accuracy.</a:t>
            </a:r>
            <a:endParaRPr/>
          </a:p>
        </p:txBody>
      </p:sp>
      <p:pic>
        <p:nvPicPr>
          <p:cNvPr id="249" name="Google Shape;24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212" y="25050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212" y="30003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212" y="34956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95275" y="1009650"/>
            <a:ext cx="11601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Analysis Summary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295275" y="4886325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Widescreen</PresentationFormat>
  <Paragraphs>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Poppins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hrishikeshms1971@outlook.com</cp:lastModifiedBy>
  <cp:revision>1</cp:revision>
  <dcterms:modified xsi:type="dcterms:W3CDTF">2026-06-18T19:57:49Z</dcterms:modified>
</cp:coreProperties>
</file>